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2" r:id="rId5"/>
    <p:sldId id="263" r:id="rId6"/>
    <p:sldId id="265" r:id="rId7"/>
    <p:sldId id="268" r:id="rId8"/>
    <p:sldId id="273" r:id="rId9"/>
    <p:sldId id="274" r:id="rId10"/>
    <p:sldId id="276" r:id="rId11"/>
    <p:sldId id="278" r:id="rId12"/>
    <p:sldId id="27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9B84A-989C-435C-9A5D-C4A141BE2FD2}" v="5" dt="2026-05-19T04:49:37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el Kashish" userId="a0dfcbb8a64427db" providerId="LiveId" clId="{B3AFDE0E-9EC8-4EF3-8F95-C6D2037328AE}"/>
    <pc:docChg chg="custSel delSld modSld">
      <pc:chgData name="Patel Kashish" userId="a0dfcbb8a64427db" providerId="LiveId" clId="{B3AFDE0E-9EC8-4EF3-8F95-C6D2037328AE}" dt="2026-05-20T04:07:26.515" v="110" actId="47"/>
      <pc:docMkLst>
        <pc:docMk/>
      </pc:docMkLst>
      <pc:sldChg chg="addSp modSp mod">
        <pc:chgData name="Patel Kashish" userId="a0dfcbb8a64427db" providerId="LiveId" clId="{B3AFDE0E-9EC8-4EF3-8F95-C6D2037328AE}" dt="2026-05-19T04:49:23.040" v="94" actId="1076"/>
        <pc:sldMkLst>
          <pc:docMk/>
          <pc:sldMk cId="0" sldId="256"/>
        </pc:sldMkLst>
        <pc:spChg chg="mod">
          <ac:chgData name="Patel Kashish" userId="a0dfcbb8a64427db" providerId="LiveId" clId="{B3AFDE0E-9EC8-4EF3-8F95-C6D2037328AE}" dt="2026-05-19T04:47:37.715" v="76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Patel Kashish" userId="a0dfcbb8a64427db" providerId="LiveId" clId="{B3AFDE0E-9EC8-4EF3-8F95-C6D2037328AE}" dt="2026-05-19T04:46:51.190" v="66"/>
          <ac:spMkLst>
            <pc:docMk/>
            <pc:sldMk cId="0" sldId="256"/>
            <ac:spMk id="5" creationId="{E950AD35-3E00-F5E2-96EB-BBD8581E5DF9}"/>
          </ac:spMkLst>
        </pc:spChg>
        <pc:spChg chg="add mod">
          <ac:chgData name="Patel Kashish" userId="a0dfcbb8a64427db" providerId="LiveId" clId="{B3AFDE0E-9EC8-4EF3-8F95-C6D2037328AE}" dt="2026-05-19T04:47:43.591" v="77" actId="1076"/>
          <ac:spMkLst>
            <pc:docMk/>
            <pc:sldMk cId="0" sldId="256"/>
            <ac:spMk id="6" creationId="{53F92001-98FC-72A4-C18C-33947724BD62}"/>
          </ac:spMkLst>
        </pc:spChg>
        <pc:spChg chg="add mod">
          <ac:chgData name="Patel Kashish" userId="a0dfcbb8a64427db" providerId="LiveId" clId="{B3AFDE0E-9EC8-4EF3-8F95-C6D2037328AE}" dt="2026-05-19T04:49:23.040" v="94" actId="1076"/>
          <ac:spMkLst>
            <pc:docMk/>
            <pc:sldMk cId="0" sldId="256"/>
            <ac:spMk id="7" creationId="{875ABE44-EAC7-1564-5E22-DDAC3AC65D1D}"/>
          </ac:spMkLst>
        </pc:spChg>
      </pc:sldChg>
      <pc:sldChg chg="del">
        <pc:chgData name="Patel Kashish" userId="a0dfcbb8a64427db" providerId="LiveId" clId="{B3AFDE0E-9EC8-4EF3-8F95-C6D2037328AE}" dt="2026-05-19T04:50:05.604" v="95" actId="47"/>
        <pc:sldMkLst>
          <pc:docMk/>
          <pc:sldMk cId="0" sldId="257"/>
        </pc:sldMkLst>
      </pc:sldChg>
      <pc:sldChg chg="del">
        <pc:chgData name="Patel Kashish" userId="a0dfcbb8a64427db" providerId="LiveId" clId="{B3AFDE0E-9EC8-4EF3-8F95-C6D2037328AE}" dt="2026-05-20T04:06:46.526" v="105" actId="47"/>
        <pc:sldMkLst>
          <pc:docMk/>
          <pc:sldMk cId="0" sldId="260"/>
        </pc:sldMkLst>
      </pc:sldChg>
      <pc:sldChg chg="del">
        <pc:chgData name="Patel Kashish" userId="a0dfcbb8a64427db" providerId="LiveId" clId="{B3AFDE0E-9EC8-4EF3-8F95-C6D2037328AE}" dt="2026-05-19T04:50:08.052" v="96" actId="47"/>
        <pc:sldMkLst>
          <pc:docMk/>
          <pc:sldMk cId="0" sldId="261"/>
        </pc:sldMkLst>
      </pc:sldChg>
      <pc:sldChg chg="modSp mod">
        <pc:chgData name="Patel Kashish" userId="a0dfcbb8a64427db" providerId="LiveId" clId="{B3AFDE0E-9EC8-4EF3-8F95-C6D2037328AE}" dt="2026-05-16T11:14:38.883" v="65" actId="1076"/>
        <pc:sldMkLst>
          <pc:docMk/>
          <pc:sldMk cId="0" sldId="262"/>
        </pc:sldMkLst>
        <pc:spChg chg="mod">
          <ac:chgData name="Patel Kashish" userId="a0dfcbb8a64427db" providerId="LiveId" clId="{B3AFDE0E-9EC8-4EF3-8F95-C6D2037328AE}" dt="2026-05-16T11:14:03.463" v="64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atel Kashish" userId="a0dfcbb8a64427db" providerId="LiveId" clId="{B3AFDE0E-9EC8-4EF3-8F95-C6D2037328AE}" dt="2026-05-16T11:14:38.883" v="65" actId="1076"/>
          <ac:spMkLst>
            <pc:docMk/>
            <pc:sldMk cId="0" sldId="262"/>
            <ac:spMk id="23" creationId="{00000000-0000-0000-0000-000000000000}"/>
          </ac:spMkLst>
        </pc:spChg>
      </pc:sldChg>
      <pc:sldChg chg="del">
        <pc:chgData name="Patel Kashish" userId="a0dfcbb8a64427db" providerId="LiveId" clId="{B3AFDE0E-9EC8-4EF3-8F95-C6D2037328AE}" dt="2026-05-19T04:50:11.740" v="97" actId="47"/>
        <pc:sldMkLst>
          <pc:docMk/>
          <pc:sldMk cId="0" sldId="264"/>
        </pc:sldMkLst>
      </pc:sldChg>
      <pc:sldChg chg="del">
        <pc:chgData name="Patel Kashish" userId="a0dfcbb8a64427db" providerId="LiveId" clId="{B3AFDE0E-9EC8-4EF3-8F95-C6D2037328AE}" dt="2026-05-20T04:07:19.385" v="106" actId="47"/>
        <pc:sldMkLst>
          <pc:docMk/>
          <pc:sldMk cId="0" sldId="266"/>
        </pc:sldMkLst>
      </pc:sldChg>
      <pc:sldChg chg="del">
        <pc:chgData name="Patel Kashish" userId="a0dfcbb8a64427db" providerId="LiveId" clId="{B3AFDE0E-9EC8-4EF3-8F95-C6D2037328AE}" dt="2026-05-20T04:07:20.094" v="107" actId="47"/>
        <pc:sldMkLst>
          <pc:docMk/>
          <pc:sldMk cId="0" sldId="267"/>
        </pc:sldMkLst>
      </pc:sldChg>
      <pc:sldChg chg="del">
        <pc:chgData name="Patel Kashish" userId="a0dfcbb8a64427db" providerId="LiveId" clId="{B3AFDE0E-9EC8-4EF3-8F95-C6D2037328AE}" dt="2026-05-20T04:07:24.526" v="108" actId="47"/>
        <pc:sldMkLst>
          <pc:docMk/>
          <pc:sldMk cId="0" sldId="269"/>
        </pc:sldMkLst>
      </pc:sldChg>
      <pc:sldChg chg="del">
        <pc:chgData name="Patel Kashish" userId="a0dfcbb8a64427db" providerId="LiveId" clId="{B3AFDE0E-9EC8-4EF3-8F95-C6D2037328AE}" dt="2026-05-20T04:07:25.400" v="109" actId="47"/>
        <pc:sldMkLst>
          <pc:docMk/>
          <pc:sldMk cId="0" sldId="270"/>
        </pc:sldMkLst>
      </pc:sldChg>
      <pc:sldChg chg="del">
        <pc:chgData name="Patel Kashish" userId="a0dfcbb8a64427db" providerId="LiveId" clId="{B3AFDE0E-9EC8-4EF3-8F95-C6D2037328AE}" dt="2026-05-20T04:07:26.515" v="110" actId="47"/>
        <pc:sldMkLst>
          <pc:docMk/>
          <pc:sldMk cId="0" sldId="271"/>
        </pc:sldMkLst>
      </pc:sldChg>
      <pc:sldChg chg="del">
        <pc:chgData name="Patel Kashish" userId="a0dfcbb8a64427db" providerId="LiveId" clId="{B3AFDE0E-9EC8-4EF3-8F95-C6D2037328AE}" dt="2026-05-19T04:50:18.001" v="98" actId="47"/>
        <pc:sldMkLst>
          <pc:docMk/>
          <pc:sldMk cId="0" sldId="272"/>
        </pc:sldMkLst>
      </pc:sldChg>
      <pc:sldChg chg="del">
        <pc:chgData name="Patel Kashish" userId="a0dfcbb8a64427db" providerId="LiveId" clId="{B3AFDE0E-9EC8-4EF3-8F95-C6D2037328AE}" dt="2026-05-19T04:50:21.953" v="99" actId="47"/>
        <pc:sldMkLst>
          <pc:docMk/>
          <pc:sldMk cId="0" sldId="275"/>
        </pc:sldMkLst>
      </pc:sldChg>
      <pc:sldChg chg="del">
        <pc:chgData name="Patel Kashish" userId="a0dfcbb8a64427db" providerId="LiveId" clId="{B3AFDE0E-9EC8-4EF3-8F95-C6D2037328AE}" dt="2026-05-19T04:50:24.350" v="100" actId="47"/>
        <pc:sldMkLst>
          <pc:docMk/>
          <pc:sldMk cId="0" sldId="277"/>
        </pc:sldMkLst>
      </pc:sldChg>
      <pc:sldChg chg="delSp modSp mod">
        <pc:chgData name="Patel Kashish" userId="a0dfcbb8a64427db" providerId="LiveId" clId="{B3AFDE0E-9EC8-4EF3-8F95-C6D2037328AE}" dt="2026-05-19T04:50:45.766" v="104" actId="1076"/>
        <pc:sldMkLst>
          <pc:docMk/>
          <pc:sldMk cId="0" sldId="279"/>
        </pc:sldMkLst>
        <pc:spChg chg="mod">
          <ac:chgData name="Patel Kashish" userId="a0dfcbb8a64427db" providerId="LiveId" clId="{B3AFDE0E-9EC8-4EF3-8F95-C6D2037328AE}" dt="2026-05-19T04:50:45.766" v="104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Patel Kashish" userId="a0dfcbb8a64427db" providerId="LiveId" clId="{B3AFDE0E-9EC8-4EF3-8F95-C6D2037328AE}" dt="2026-05-19T04:50:34.582" v="101" actId="6549"/>
          <ac:spMkLst>
            <pc:docMk/>
            <pc:sldMk cId="0" sldId="279"/>
            <ac:spMk id="4" creationId="{00000000-0000-0000-0000-000000000000}"/>
          </ac:spMkLst>
        </pc:spChg>
        <pc:spChg chg="del mod">
          <ac:chgData name="Patel Kashish" userId="a0dfcbb8a64427db" providerId="LiveId" clId="{B3AFDE0E-9EC8-4EF3-8F95-C6D2037328AE}" dt="2026-05-19T04:50:39.699" v="103" actId="478"/>
          <ac:spMkLst>
            <pc:docMk/>
            <pc:sldMk cId="0" sldId="27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9144000" cy="13487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43337" y="-61621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85876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Web Platform — Academic Management · AI Soft Skill Analysis · ATS Resume Analyzer</a:t>
            </a:r>
            <a:endParaRPr lang="en-US" sz="1450" dirty="0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3F92001-98FC-72A4-C18C-33947724BD62}"/>
              </a:ext>
            </a:extLst>
          </p:cNvPr>
          <p:cNvSpPr txBox="1"/>
          <p:nvPr/>
        </p:nvSpPr>
        <p:spPr>
          <a:xfrm>
            <a:off x="548640" y="1167793"/>
            <a:ext cx="8963874" cy="36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00" spc="-3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CampusMind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BE44-EAC7-1564-5E22-DDAC3AC65D1D}"/>
              </a:ext>
            </a:extLst>
          </p:cNvPr>
          <p:cNvSpPr txBox="1"/>
          <p:nvPr/>
        </p:nvSpPr>
        <p:spPr>
          <a:xfrm>
            <a:off x="6271578" y="1456534"/>
            <a:ext cx="2492799" cy="2735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(Group member):  </a:t>
            </a:r>
          </a:p>
          <a:p>
            <a:pPr algn="l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Kashish Patel.</a:t>
            </a:r>
          </a:p>
          <a:p>
            <a:pPr algn="just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Shreya Diddi.</a:t>
            </a:r>
          </a:p>
          <a:p>
            <a:pPr algn="just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Natasha Bogam.</a:t>
            </a:r>
          </a:p>
          <a:p>
            <a:pPr algn="just">
              <a:lnSpc>
                <a:spcPts val="2400"/>
              </a:lnSpc>
            </a:pPr>
            <a:endParaRPr lang="en-US" sz="1400" spc="-2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</a:p>
          <a:p>
            <a:pPr algn="just">
              <a:lnSpc>
                <a:spcPts val="2400"/>
              </a:lnSpc>
            </a:pPr>
            <a:r>
              <a:rPr lang="en-US" sz="1400" spc="-2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A .A .Phatak </a:t>
            </a:r>
          </a:p>
          <a:p>
            <a:pPr algn="r">
              <a:lnSpc>
                <a:spcPts val="2400"/>
              </a:lnSpc>
            </a:pPr>
            <a:endParaRPr lang="en-US" sz="1400" spc="-2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lnSpc>
                <a:spcPts val="2400"/>
              </a:lnSpc>
            </a:pPr>
            <a:endParaRPr lang="en-US" sz="1400" spc="-2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FC421B66-7B55-0C01-2CBF-839DECA5C844}"/>
              </a:ext>
            </a:extLst>
          </p:cNvPr>
          <p:cNvGrpSpPr>
            <a:grpSpLocks noChangeAspect="1"/>
          </p:cNvGrpSpPr>
          <p:nvPr/>
        </p:nvGrpSpPr>
        <p:grpSpPr>
          <a:xfrm>
            <a:off x="8130774" y="142727"/>
            <a:ext cx="718565" cy="809067"/>
            <a:chOff x="0" y="0"/>
            <a:chExt cx="2178050" cy="245237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0C4266-B2B1-3AE3-2CBE-103C142AA859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is This Project?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integrates teacher-side academic management with student-facing learning tools and AI-powered career development features.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pillars: (1) Teacher Portal for class administration, (2) Student Portal for assignments and submissions, and (3) AI Modules for soft skill analysis and resume optimization.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creates a two-way notification loop — teachers post assignments and get submission alerts; students receive assignment notifications and can submit work digitally.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multi-service architecture: Node.js/Express main server, PostgreSQL databases, Python FastAPI AI engine, and Node.js AI gateway.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bridge the gap between classroom performance and real-world employability through objective, data-driven feedback.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886200"/>
            <a:ext cx="2651760" cy="10241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3886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270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Marks · Behavior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· Notifications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3886200"/>
            <a:ext cx="2651760" cy="10241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37560" y="3886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4270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Assignments · Submit 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· AI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2651760" cy="10241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63640" y="3886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42702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 Analyzer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Analyzer</a:t>
            </a:r>
            <a:endParaRPr lang="en-US" sz="1000" dirty="0"/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99EC37AF-B02D-82C2-6D23-F1F16F532ADE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0AD62CBA-6EE7-EFC0-5FEF-F3803999784B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Problem Statement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is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Academic Records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manually track attendance, marks and behavior in spreadsheets or paper, leading to errors, delays and no real-time student visibility.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425196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Communication Gap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40690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are communicated verbally or via physical notice boards. Students miss deadlines and teachers have no digital record of who submitted what.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02336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Soft Skill Feedback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218688"/>
            <a:ext cx="3840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no objective feedback on communication skills — grammar, eye contact, fluency, confidence — which are critical for campus placements.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834640"/>
            <a:ext cx="42519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51960" cy="347472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Not Job-Ready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3218688"/>
            <a:ext cx="40690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resumes that fail ATS scans because they lack domain-matched keywords and proper structure — with no tool available to diagnose this.</a:t>
            </a:r>
            <a:endParaRPr lang="en-US" sz="1050" dirty="0"/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4B2F91DA-61DE-F010-C834-6DF21E868812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8206"/>
            <a:ext cx="477105" cy="537196"/>
            <a:chOff x="0" y="0"/>
            <a:chExt cx="2178050" cy="245237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3AC1C5EA-F491-14AC-D09A-7CEF870D86BE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Related Research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96944" y="63023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&amp; Prior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2448" y="996696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02448" y="996696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6768" y="1088136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Systems: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5568" y="1088136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and Canvas research shows LMS platforms improve assignment distribution but lack integrated AI assessment. Our system adds real-time AI evaluation on top of classic LMS functionality.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2448" y="1655064"/>
            <a:ext cx="8503920" cy="576072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2448" y="1655064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768" y="1746504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 Education: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05568" y="1746504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Burstein et al. (2003) and Crossley (2020) proved NLP can reliably score grammar and vocabulary in student writing; recent extensions apply these techniques to spoken language analysis.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2448" y="2313432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2448" y="2313432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76768" y="2404872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 via Computer Vision: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05568" y="2404872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Krejtz et al. (2020) demonstrated iris-landmark tracking with MediaPipe FaceMesh achieves &gt;85% accuracy for frontal eye-contact detection — validated in our eye contact scoring module.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2448" y="2971800"/>
            <a:ext cx="8503920" cy="576072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02448" y="2971800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76768" y="3063240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Speech Recognition: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05568" y="3063240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Radford et al. (2022) showed OpenAI Whisper achieves near-human transcription accuracy across accents and noise levels, making automated speaking-rate and fluency measurement practical.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2448" y="3630168"/>
            <a:ext cx="85039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02448" y="3630168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6768" y="3721608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Scanning: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05568" y="3721608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by LinkedIn (2022) and HireVue found 75% of resumes are rejected by ATS before a human reads them. Keyword-matching and domain taxonomy approaches improve pass-through rates significantly.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2448" y="4288536"/>
            <a:ext cx="8503920" cy="576072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02448" y="4288536"/>
            <a:ext cx="182880" cy="5760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6768" y="4379976"/>
            <a:ext cx="17830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Soft Skill AI: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05568" y="4379976"/>
            <a:ext cx="62636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HireVue and Pymetrics validate multi-modal analysis (voice + gaze + language) for candidate evaluation — the approach our Soft Skill Analyzer implements for academic use.</a:t>
            </a:r>
            <a:endParaRPr lang="en-US" sz="1000" dirty="0"/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AF2B86FD-4E82-2FD3-CA4B-93459C8A90DE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D25964D-28D0-1B1A-3CEE-1B514CF4CAC7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Technology Evaluation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Technologies Were Chosen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605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non-blocking I/O suits concurrent teacher and student sessions. Alternatives Django/Flask are Python-native but slower for real-time multi-user academic portals.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70432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relational DB chosen over MongoDB because structured academic data (marks, attendance, submissions) demands referential integrity and complex joins.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41605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468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framework ideal for AI inference microservice. Auto-generates OpenAPI docs. Significantly faster than Flask for ML model serving under concurrent requests.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160520" cy="347472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468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28529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Google STT and Mozilla DeepSpeech. Whisper wins on accent robustness and works fully offline — critical for institutional deployment.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4160520" cy="34747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151376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468-landmark face model from Google. Chosen over dlib (slower) and OpenFace (complex setup). Achieves real-time iris tracking on CPU without GPU requirement.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6732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3767328"/>
            <a:ext cx="416052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LanguageTool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151376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NLP: en_core_web_sm for tokenisation, POS tagging, lexical diversity. LanguageTool via public API provides grammar error count without local install overhead.</a:t>
            </a:r>
            <a:endParaRPr lang="en-US" sz="1050" dirty="0"/>
          </a:p>
        </p:txBody>
      </p:sp>
      <p:grpSp>
        <p:nvGrpSpPr>
          <p:cNvPr id="29" name="Group 7">
            <a:extLst>
              <a:ext uri="{FF2B5EF4-FFF2-40B4-BE49-F238E27FC236}">
                <a16:creationId xmlns:a16="http://schemas.microsoft.com/office/drawing/2014/main" id="{DC453ED3-6CCC-00E0-4CD1-E60497770A02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CA40462D-AA50-4980-B348-2BDC721CC0CA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9060" y="6355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Three-Service Microservice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914400"/>
            <a:ext cx="2560320" cy="5303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91840" y="914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 / 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(Teacher or Student)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0" cy="41148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71600" y="1856232"/>
            <a:ext cx="64008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Main Node.js / Express  (Port 5000)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Teacher Portal  |  Student Portal  |  Routing &amp; Auth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514600"/>
            <a:ext cx="0" cy="45720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669280" y="2514600"/>
            <a:ext cx="0" cy="45720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2514600"/>
            <a:ext cx="0" cy="137160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3931920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PostgreSQL — Teacher 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teachers · assignments · attendance · marks · behavior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2971800"/>
            <a:ext cx="3931920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PostgreSQL — Student 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students · submissions · notifications · assignments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3886200"/>
            <a:ext cx="0" cy="32004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0" y="4206240"/>
            <a:ext cx="40233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60320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Gateway (3001)  +  Python FastAPI Engine (8000)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 Skill Analyzer  |  Resume Analyzer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2B4A"/>
                </a:solidFill>
              </a:rPr>
              <a:t>↕ Notifications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2B4A"/>
                </a:solidFill>
              </a:rPr>
              <a:t>↕ Notifications</a:t>
            </a:r>
            <a:endParaRPr lang="en-US" sz="900" dirty="0"/>
          </a:p>
        </p:txBody>
      </p:sp>
      <p:grpSp>
        <p:nvGrpSpPr>
          <p:cNvPr id="22" name="Group 7">
            <a:extLst>
              <a:ext uri="{FF2B5EF4-FFF2-40B4-BE49-F238E27FC236}">
                <a16:creationId xmlns:a16="http://schemas.microsoft.com/office/drawing/2014/main" id="{1FA04A93-3F1A-565E-AFB8-A24BE1930C01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29FA516-E2C0-4DD1-137E-0BB5AB1AE231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— Two-Way Notification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1920" y="582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Notification System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2521"/>
            <a:ext cx="3657600" cy="5303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12521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TEACHER  creates assignment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377697"/>
            <a:ext cx="118872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977640" y="1083565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A020"/>
                </a:solidFill>
              </a:rPr>
              <a:t>POST notification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66360" y="1089660"/>
            <a:ext cx="3657600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66360" y="10896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 sees notification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on dashboard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642873"/>
            <a:ext cx="0" cy="54864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995160" y="1642873"/>
            <a:ext cx="0" cy="54864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191513"/>
            <a:ext cx="3657600" cy="502920"/>
          </a:xfrm>
          <a:prstGeom prst="rect">
            <a:avLst/>
          </a:prstGeom>
          <a:solidFill>
            <a:srgbClr val="D6EEF2"/>
          </a:solidFill>
          <a:ln w="1016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2191513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Assignment + file saved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Teacher DB &amp; Student 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168652"/>
            <a:ext cx="3657600" cy="502920"/>
          </a:xfrm>
          <a:prstGeom prst="rect">
            <a:avLst/>
          </a:prstGeom>
          <a:solidFill>
            <a:srgbClr val="D6EEF2"/>
          </a:solidFill>
          <a:ln w="1016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66360" y="21686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Notification stored in Student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filtered by department + 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72740"/>
            <a:ext cx="8503920" cy="0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286000" y="2959609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</a:rPr>
              <a:t>↓  Student submits assignment  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3393948"/>
            <a:ext cx="3657600" cy="5303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66360" y="339394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 uploads file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chooses teacher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3681985"/>
            <a:ext cx="1188720" cy="0"/>
          </a:xfrm>
          <a:prstGeom prst="line">
            <a:avLst/>
          </a:prstGeom>
          <a:noFill/>
          <a:ln w="317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70020" y="336270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A020"/>
                </a:solidFill>
              </a:rPr>
              <a:t>← notify teacher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416809"/>
            <a:ext cx="3657600" cy="5303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416809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TEACHER  receives notification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with student + file details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3947161"/>
            <a:ext cx="0" cy="50292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148840" y="3947161"/>
            <a:ext cx="0" cy="502920"/>
          </a:xfrm>
          <a:prstGeom prst="line">
            <a:avLst/>
          </a:prstGeom>
          <a:noFill/>
          <a:ln w="254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66360" y="4427220"/>
            <a:ext cx="3657600" cy="457200"/>
          </a:xfrm>
          <a:prstGeom prst="rect">
            <a:avLst/>
          </a:prstGeom>
          <a:solidFill>
            <a:srgbClr val="D6EEF2"/>
          </a:solidFill>
          <a:ln w="1016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66360" y="44272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Submission saved in Student 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Confirmation shown to student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427220"/>
            <a:ext cx="3657600" cy="457200"/>
          </a:xfrm>
          <a:prstGeom prst="rect">
            <a:avLst/>
          </a:prstGeom>
          <a:solidFill>
            <a:srgbClr val="D6EEF2"/>
          </a:solidFill>
          <a:ln w="1016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44272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teacher_notifications table updated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4A"/>
                </a:solidFill>
              </a:rPr>
              <a:t>in Teacher DB</a:t>
            </a:r>
            <a:endParaRPr lang="en-US" sz="1000" dirty="0"/>
          </a:p>
        </p:txBody>
      </p:sp>
      <p:grpSp>
        <p:nvGrpSpPr>
          <p:cNvPr id="31" name="Group 7">
            <a:extLst>
              <a:ext uri="{FF2B5EF4-FFF2-40B4-BE49-F238E27FC236}">
                <a16:creationId xmlns:a16="http://schemas.microsoft.com/office/drawing/2014/main" id="{69CB2DB0-2D36-435E-C3D1-4FE117EA2C4A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183C2E7A-4A67-4ABA-CA5D-FE0F92060DE8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Technology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35280" y="6431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Technology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" y="1005840"/>
            <a:ext cx="160020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1024128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92808" y="1005840"/>
            <a:ext cx="228600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38528" y="102412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78808" y="1005840"/>
            <a:ext cx="4434840" cy="274320"/>
          </a:xfrm>
          <a:prstGeom prst="rect">
            <a:avLst/>
          </a:prstGeom>
          <a:solidFill>
            <a:srgbClr val="1A2B4A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24528" y="1024128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1307592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" y="1325880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92808" y="1307592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38528" y="132588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+ CSS + Vanilla JS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8808" y="1307592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24528" y="1325880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views for Teacher &amp; Student portals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1609344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" y="1627632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Backend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92808" y="1609344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938528" y="1627632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78808" y="1609344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24528" y="1627632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routes, session auth, file uploads (Multer)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1911096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8328" y="1929384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92808" y="1911096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938528" y="192938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×2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78808" y="1911096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224528" y="1929384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DB + Student DB with full relational integrity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2608" y="2212848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8328" y="223113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92808" y="2212848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938528" y="223113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(Port 3001)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78808" y="2212848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224528" y="2231136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upload handling, FFmpeg transcoding, session store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2608" y="2514600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8328" y="2532888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92808" y="2514600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938528" y="253288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(Port 8000)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78808" y="2514600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224528" y="2532888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Whisper, spaCy, MediaPipe, librosa AI inference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92608" y="2816352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8328" y="2834640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92808" y="2816352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938528" y="283464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78808" y="2816352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224528" y="2834640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ASR — word count, duration, speaking rate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92608" y="3118104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38328" y="3136392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92808" y="3118104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938528" y="3136392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LanguageTool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78808" y="3118104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224528" y="3136392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diversity, filler word rate, grammar errors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92608" y="3419856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38328" y="3438144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92808" y="3419856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938528" y="3438144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MediaPipe FaceMesh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178808" y="3419856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224528" y="3438144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tracking → eye contact percentage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92608" y="3721608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38328" y="3739896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892808" y="3721608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938528" y="37398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178808" y="3721608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224528" y="3739896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Pitch, WPM, pause detection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92608" y="4023360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38328" y="4041648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892808" y="402336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1938528" y="404164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Anthropic Claude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178808" y="4023360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224528" y="4041648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coaching text; rule-based engine as fallback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92608" y="4325112"/>
            <a:ext cx="16002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38328" y="4343400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892808" y="4325112"/>
            <a:ext cx="228600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938528" y="4343400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JS (no server)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178808" y="4325112"/>
            <a:ext cx="4434840" cy="274320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224528" y="4343400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 skill taxonomy, domain detection, ATS scoring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92608" y="4626864"/>
            <a:ext cx="1600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38328" y="4645152"/>
            <a:ext cx="1527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892808" y="4626864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938528" y="4645152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express-session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178808" y="4626864"/>
            <a:ext cx="44348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224528" y="4645152"/>
            <a:ext cx="4361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and session management for both portals</a:t>
            </a:r>
            <a:endParaRPr lang="en-US" sz="950" dirty="0"/>
          </a:p>
        </p:txBody>
      </p:sp>
      <p:grpSp>
        <p:nvGrpSpPr>
          <p:cNvPr id="83" name="Group 7">
            <a:extLst>
              <a:ext uri="{FF2B5EF4-FFF2-40B4-BE49-F238E27FC236}">
                <a16:creationId xmlns:a16="http://schemas.microsoft.com/office/drawing/2014/main" id="{EAFDEE3C-D367-84D9-330A-0F508DF9841F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84" name="Freeform 8">
              <a:extLst>
                <a:ext uri="{FF2B5EF4-FFF2-40B4-BE49-F238E27FC236}">
                  <a16:creationId xmlns:a16="http://schemas.microsoft.com/office/drawing/2014/main" id="{D9089A1A-5A26-4F87-18B9-ECF8B2CD11B6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Development Phases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7640" y="6278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Development Plan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96696"/>
            <a:ext cx="1371600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966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996696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37360" y="10789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DB Design: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07899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ER diagram, PostgreSQL schemas for Teacher DB and Student DB, SQL table creation scripts.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55064"/>
            <a:ext cx="1371600" cy="5669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6550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1655064"/>
            <a:ext cx="7132320" cy="566928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37360" y="17373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737360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Register/login, dashboard, class management, attendance, marks, behavior recording, assignment creation with file upload and student notifications.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1371600" cy="5669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3134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313432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737360" y="23957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39572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department-aware assignment feed, submission upload, notification feed, submission confirmation, teacher notification on submit.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1371600" cy="566928"/>
          </a:xfrm>
          <a:prstGeom prst="rect">
            <a:avLst/>
          </a:prstGeom>
          <a:solidFill>
            <a:srgbClr val="8B2252"/>
          </a:solidFill>
          <a:ln w="12700">
            <a:solidFill>
              <a:srgbClr val="8B2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2971800"/>
            <a:ext cx="7132320" cy="566928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37360" y="30540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 AI Backend: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3054096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setup, Whisper transcription, NLP pipeline, MediaPipe eye tracking, librosa audio analysis, scoring formula, LLM feedback chain.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1371600" cy="56692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74320" y="36301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0" y="3630168"/>
            <a:ext cx="7132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737360" y="37124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 &amp; Integration: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3712464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ATS engine with 600+ skill taxonomy, domain detection, score calculation, suggestion engine. Node gateway integration.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88536"/>
            <a:ext cx="13716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74320" y="42885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45920" y="4288536"/>
            <a:ext cx="7132320" cy="566928"/>
          </a:xfrm>
          <a:prstGeom prst="rect">
            <a:avLst/>
          </a:prstGeom>
          <a:solidFill>
            <a:srgbClr val="D6EEF2"/>
          </a:solidFill>
          <a:ln w="6350">
            <a:solidFill>
              <a:srgbClr val="D0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737360" y="4370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437083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(Jest + pytest), integration tests, AI accuracy benchmarking, security audit, load testing, documentation and startup scripts.</a:t>
            </a:r>
            <a:endParaRPr lang="en-US" sz="1000" dirty="0"/>
          </a:p>
        </p:txBody>
      </p:sp>
      <p:grpSp>
        <p:nvGrpSpPr>
          <p:cNvPr id="35" name="Group 7">
            <a:extLst>
              <a:ext uri="{FF2B5EF4-FFF2-40B4-BE49-F238E27FC236}">
                <a16:creationId xmlns:a16="http://schemas.microsoft.com/office/drawing/2014/main" id="{32A7A7D1-59A3-0A88-CBEB-44C20C7548C9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82077755-5AC6-98F7-9643-A4ACC76CA6E9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What Was Achieved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unified web platform that digitises teacher-side academic administration — attendance, marks, behavior and assignment management — in one dashboard.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two-way notification system where teachers notify students of new assignments, and students auto-notify teachers on submission — closing the communication loop.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an AI-powered Soft Skill Analyzer using Whisper ASR, spaCy NLP, MediaPipe FaceMesh and librosa to objectively score 6 communication dimensions from a student video in 30–90 seconds.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browser-based ATS Resume Analyzer with a 600+ skill taxonomy across 20+ domains that computes a composite ATS score, identifies skill gaps and generates domain-specific improvement suggestions.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open-source AI (Whisper, spaCy, MediaPipe) combined with optional LLM feedback (Ollama/Claude) can deliver enterprise-grade career assessment tools in an academic setting.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modular, microservice architecture allowing each component to scale or be replaced without affecting the rest of the system.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315968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in-browser video analysis using WebRTC  •  Emotion detection for richer confidence scoring  •  Mobile app (React Native)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 on assignment submissions  •  Analytics dashboard with trend charts  •  Multi-language support</a:t>
            </a:r>
            <a:endParaRPr lang="en-US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07A613-07BD-0A5C-F064-855B412488DF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A168CAE-6414-201C-F49B-9310860E5105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Technical References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Radford, A., et al. (2022). Robust Speech Recognition via Large-Scale Weak Supervision. OpenAI. arXiv:2212.04356.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Honnibal, M., &amp; Montani, I. (2017). spaCy 2: Natural Language Understanding with Bloom Embeddings, CNNs and Incremental Parsing.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Lugaresi, C., et al. (2019). MediaPipe: A Framework for Building Perception Pipelines. Google Research. arXiv:1906.08172.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McFee, B., et al. (2015). librosa: Audio and Music Signal Analysis in Python. Proceedings of SciPy 2015.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Crossley, S. A. (2020). Linguistic Features in Writing Quality and Development. Journal of Writing Research, 11(3), 415–443.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Burstein, J., Chodorow, M., &amp; Leacock, C. (2003). Criterion Online Essay Evaluation. Proc. IAAI 2003.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Krejtz, K., et al. (2020). Eye Tracking Cognitive Load Using Pupil Diameter and Saccade Parameters. Scientific Reports, 8, 18092.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LinkedIn Talent Solutions. (2022). Global Talent Trends: The Rise of the Whole Person. LinkedIn.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Express.js Documentation. https://expressjs.com — Node.js minimalist web framework.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PostgreSQL Global Development Group. (2024). PostgreSQL 16 Documentation. https://www.postgresql.org/docs/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FastAPI Documentation. https://fastapi.tiangolo.com — Modern Python API framework.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OpenCV Team. (2024). OpenCV Documentation. https://docs.opencv.org</a:t>
            </a:r>
            <a:endParaRPr lang="en-US" sz="1000" dirty="0"/>
          </a:p>
        </p:txBody>
      </p:sp>
      <p:grpSp>
        <p:nvGrpSpPr>
          <p:cNvPr id="6" name="Group 7">
            <a:extLst>
              <a:ext uri="{FF2B5EF4-FFF2-40B4-BE49-F238E27FC236}">
                <a16:creationId xmlns:a16="http://schemas.microsoft.com/office/drawing/2014/main" id="{7614100C-1D9B-AFBE-A5CA-6BCE0BB094CE}"/>
              </a:ext>
            </a:extLst>
          </p:cNvPr>
          <p:cNvGrpSpPr>
            <a:grpSpLocks noChangeAspect="1"/>
          </p:cNvGrpSpPr>
          <p:nvPr/>
        </p:nvGrpSpPr>
        <p:grpSpPr>
          <a:xfrm>
            <a:off x="8438295" y="60586"/>
            <a:ext cx="477105" cy="537196"/>
            <a:chOff x="0" y="0"/>
            <a:chExt cx="2178050" cy="2452370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0A02324B-420F-396D-78FC-7FC5A31DB7A7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029968"/>
            <a:ext cx="91440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43A9759C-5082-0255-1CEB-3A455276F6AD}"/>
              </a:ext>
            </a:extLst>
          </p:cNvPr>
          <p:cNvGrpSpPr>
            <a:grpSpLocks noChangeAspect="1"/>
          </p:cNvGrpSpPr>
          <p:nvPr/>
        </p:nvGrpSpPr>
        <p:grpSpPr>
          <a:xfrm>
            <a:off x="8008207" y="60586"/>
            <a:ext cx="907194" cy="1021454"/>
            <a:chOff x="0" y="0"/>
            <a:chExt cx="2178050" cy="2452370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EDC286AB-8442-FB4E-8F02-89B94278A7D7}"/>
                </a:ext>
              </a:extLst>
            </p:cNvPr>
            <p:cNvSpPr/>
            <p:nvPr/>
          </p:nvSpPr>
          <p:spPr>
            <a:xfrm>
              <a:off x="0" y="0"/>
              <a:ext cx="2178050" cy="2452370"/>
            </a:xfrm>
            <a:custGeom>
              <a:avLst/>
              <a:gdLst/>
              <a:ahLst/>
              <a:cxnLst/>
              <a:rect l="l" t="t" r="r" b="b"/>
              <a:pathLst>
                <a:path w="2178050" h="2452370">
                  <a:moveTo>
                    <a:pt x="0" y="0"/>
                  </a:moveTo>
                  <a:lnTo>
                    <a:pt x="2178050" y="0"/>
                  </a:lnTo>
                  <a:lnTo>
                    <a:pt x="2178050" y="2452370"/>
                  </a:lnTo>
                  <a:lnTo>
                    <a:pt x="0" y="2452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799" t="-34554" r="-11606" b="-146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1806</Words>
  <Application>Microsoft Office PowerPoint</Application>
  <PresentationFormat>On-screen Show (16:9)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&amp; Soft Skill Analyzer</dc:title>
  <dc:subject>PptxGenJS Presentation</dc:subject>
  <dc:creator>PptxGenJS</dc:creator>
  <cp:lastModifiedBy>Patel Kashish</cp:lastModifiedBy>
  <cp:revision>4</cp:revision>
  <dcterms:created xsi:type="dcterms:W3CDTF">2026-05-16T10:17:51Z</dcterms:created>
  <dcterms:modified xsi:type="dcterms:W3CDTF">2026-05-24T05:11:15Z</dcterms:modified>
</cp:coreProperties>
</file>